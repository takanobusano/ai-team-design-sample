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40080" y="1298448"/>
            <a:ext cx="502920" cy="128016"/>
          </a:xfrm>
          <a:prstGeom prst="rect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813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D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NORTHWIND COMPETITIVE INTELLIGENCE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" y="18288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競合X動向 週次レポート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D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2026年6月5日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913632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B6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対象: TaskFlow / Docux / Sprintia / Planiq / Noteo / Boardly / Wikra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B6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前回（6/3）からの差分＋新規3社の初回観測（Sprintia・Planiq・Wikra）</a:t>
            </a:r>
            <a:endParaRPr lang="en-US" sz="1050" dirty="0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0" y="470000"/>
            <a:ext cx="350392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F08300"/>
                </a:solidFill>
                <a:latin typeface="Yu Gothic"/>
              </a:rPr>
              <a:t>ISO WEEK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0" y="700000"/>
            <a:ext cx="3503920" cy="1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0" b="1">
                <a:solidFill>
                  <a:srgbClr val="2D2B26"/>
                </a:solidFill>
                <a:latin typeface="Yu Gothic"/>
              </a:rPr>
              <a:t>W23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76472"/>
            <a:ext cx="7863840" cy="12700"/>
          </a:xfrm>
          <a:prstGeom prst="rect">
            <a:avLst/>
          </a:prstGeom>
          <a:solidFill>
            <a:srgbClr val="423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10896" cy="118872"/>
          </a:xfrm>
          <a:prstGeom prst="rect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今週の結論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「AI機能の無料開放に乗れるか」が競争力を決める週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0" y="48143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6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競合X動向 週次レポート | 2026-06-05（W23）   2 /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" cy="841248"/>
          </a:xfrm>
          <a:prstGeom prst="rect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13232" y="1490472"/>
            <a:ext cx="384048" cy="384048"/>
          </a:xfrm>
          <a:prstGeom prst="ellipse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335024"/>
            <a:ext cx="7114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主要3社がAI要約機能を無料プランで同時開放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AIタスク要約・自動議事録・スマート検索を3社が同時告知。Northwindの無料枠方針の確認が急務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49424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249424"/>
            <a:ext cx="82296" cy="841248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13232" y="2478024"/>
            <a:ext cx="384048" cy="384048"/>
          </a:xfrm>
          <a:prstGeom prst="ellipse">
            <a:avLst/>
          </a:prstGeom>
          <a:solidFill>
            <a:srgbClr val="18161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323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8448" y="2322576"/>
            <a:ext cx="7114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Docuxの「2ヶ月沈黙」は誤りと判明（前回評価を訂正）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5月は週数回稼働。5/28にテンプレート100種無料配布をBoardlyと共同実施（同一資本）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82296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3236976"/>
            <a:ext cx="82296" cy="841248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13232" y="3465576"/>
            <a:ext cx="384048" cy="384048"/>
          </a:xfrm>
          <a:prstGeom prst="ellipse">
            <a:avLst/>
          </a:prstGeom>
          <a:solidFill>
            <a:srgbClr val="18161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3232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8448" y="3310128"/>
            <a:ext cx="7114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Boardlyが6/10の旧API廃止リスクを告知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旧連携ユーザーのデータ移行不可の可能性を自社開示。乗り換えの機会窓（推測）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493776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5800" y="4206240"/>
            <a:ext cx="7818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D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 xml:space="preserve">一言で言うと：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競合は「AI無料開放 × 参加型キャンペーン」へ。Northwindは無料枠方針の即断が必要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10896" cy="118872"/>
          </a:xfrm>
          <a:prstGeom prst="rect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市場の変化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個社施策から「AI機能の無料化」へ重心が移動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0" y="48143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6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競合X動向 週次レポート | 2026-06-05（W23）   3 /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310896" cy="310896"/>
          </a:xfrm>
          <a:prstGeom prst="ellipse">
            <a:avLst/>
          </a:prstGeom>
          <a:solidFill>
            <a:srgbClr val="181614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57784" y="1527048"/>
            <a:ext cx="109728" cy="109728"/>
          </a:xfrm>
          <a:prstGeom prst="ellipse">
            <a:avLst/>
          </a:prstGeom>
          <a:solidFill>
            <a:srgbClr val="FAD8A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32688" y="1371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AI機能の無料開放が同時進行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AIタスク要約をTaskFlow・Planiq・Wikraが同時告知。差は無料枠の上限と精度の見せ方に収束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rgbClr val="181614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57784" y="2606040"/>
            <a:ext cx="109728" cy="109728"/>
          </a:xfrm>
          <a:prstGeom prst="ellipse">
            <a:avLst/>
          </a:prstGeom>
          <a:solidFill>
            <a:srgbClr val="FAD8A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32688" y="245059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まとめ契約割引の増加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Sprintia「年契約で20%OFF」、Planiq「3席以上で50%割引」など閾値型の設計が拡大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310896" cy="310896"/>
          </a:xfrm>
          <a:prstGeom prst="ellipse">
            <a:avLst/>
          </a:prstGeom>
          <a:solidFill>
            <a:srgbClr val="181614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57784" y="3685032"/>
            <a:ext cx="109728" cy="109728"/>
          </a:xfrm>
          <a:prstGeom prst="ellipse">
            <a:avLst/>
          </a:prstGeom>
          <a:solidFill>
            <a:srgbClr val="FAD8A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2688" y="3529584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外部ツール連携の強化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Wikra×決済SaaS（手数料優遇）、DocuxのSSO/SCIM連携。エンプラ導線が共通化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0" y="1371600"/>
            <a:ext cx="29718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715000" y="1371600"/>
            <a:ext cx="2971800" cy="109728"/>
          </a:xfrm>
          <a:prstGeom prst="rect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0" y="16276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新トレンド（今週）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1901952"/>
            <a:ext cx="248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639B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Boardly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旧API廃止リスクの開示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6/10の旧API廃止で、旧連携ユーザーのデータが引き継げない可能性を告知（約5万imp）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ユーザー離脱の機会窓が一時的に開く可能性（推測）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10896" cy="118872"/>
          </a:xfrm>
          <a:prstGeom prst="rect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競合の動き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TaskFlowは「攻めのローンチ型」、Boardlyは「防御フェーズ」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0" y="48143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6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競合X動向 週次レポート | 2026-06-05（W23）   4 /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5176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298448"/>
            <a:ext cx="2651760" cy="420624"/>
          </a:xfrm>
          <a:prstGeom prst="rect">
            <a:avLst/>
          </a:prstGeom>
          <a:solidFill>
            <a:srgbClr val="2DA44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12984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TaskFlow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18288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12.4万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" y="23225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impressions（6/2の1投稿）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67004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AI要約ローンチのデモ動画が拡散。通常投稿の80倍超。1日5〜7投稿の高頻度運用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298448"/>
            <a:ext cx="265176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91840" y="1298448"/>
            <a:ext cx="2651760" cy="420624"/>
          </a:xfrm>
          <a:prstGeom prst="rect">
            <a:avLst/>
          </a:prstGeom>
          <a:solidFill>
            <a:srgbClr val="8250D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56432" y="12984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Boardly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56432" y="18288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▲0.3K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56432" y="23225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フォロワー数（前回比・減少）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56432" y="267004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6/10の旧API廃止を告知（5万imp）。週次の機能更新告知で離脱を防御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298448"/>
            <a:ext cx="2651760" cy="25786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126480" y="1298448"/>
            <a:ext cx="2651760" cy="420624"/>
          </a:xfrm>
          <a:prstGeom prst="rect">
            <a:avLst/>
          </a:prstGeom>
          <a:solidFill>
            <a:srgbClr val="0969D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91072" y="129844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Sprintia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91072" y="18288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20%OFF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91072" y="232257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年契約の包括割引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91072" y="2670048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主要プランほぼ全対象＋3席以上で追加割引。LTV向上へシフト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493776"/>
          </a:xfrm>
          <a:prstGeom prst="rect">
            <a:avLst/>
          </a:prstGeom>
          <a:solidFill>
            <a:srgbClr val="18161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" y="4133088"/>
            <a:ext cx="7818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D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 xml:space="preserve">なぜ重要か：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実証済みのデモ動画拡散（TaskFlow）と、競合のAPI廃止不安（Boardly）という機会が同時に発生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10896" cy="118872"/>
          </a:xfrm>
          <a:prstGeom prst="rect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異常値（チャンス）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AIデモ動画 × 無料トライアル訴求が、通常投稿の80倍超の反応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0" y="48143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6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競合X動向 週次レポート | 2026-06-05（W23）   5 /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114800" cy="3200400"/>
          </a:xfrm>
          <a:prstGeom prst="rect">
            <a:avLst/>
          </a:prstGeom>
          <a:solidFill>
            <a:srgbClr val="181614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A4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TaskFlow最大の異常値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1,243,000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D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impressions（6/2の1投稿あたり）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3580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6C8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AIタスク要約の60秒デモ動画 ＋ 14日無料トライアル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6C8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年間ライセンス×10名 抽選を組み合わせた複合フック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6C8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通常投稿（1〜2万imp）の80倍超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298448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846320" y="1298448"/>
            <a:ext cx="82296" cy="960120"/>
          </a:xfrm>
          <a:prstGeom prst="rect">
            <a:avLst/>
          </a:prstGeom>
          <a:solidFill>
            <a:srgbClr val="CF222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84064" y="1371600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23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Noteo：機能比較スレッドの引用RPが拡大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58.7K imp（前回34K→拡大）。デモがなくても比較コンテンツは機能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2414016"/>
            <a:ext cx="384048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846320" y="2414016"/>
            <a:ext cx="82296" cy="960120"/>
          </a:xfrm>
          <a:prstGeom prst="rect">
            <a:avLst/>
          </a:prstGeom>
          <a:solidFill>
            <a:srgbClr val="8250D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84064" y="2487168"/>
            <a:ext cx="3364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639B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Boardly：API廃止告知が異例の高imp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50K imp。販促でない運用告知への高反応＝ユーザー不安の表れ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3529584"/>
            <a:ext cx="3840480" cy="969264"/>
          </a:xfrm>
          <a:prstGeom prst="rect">
            <a:avLst/>
          </a:prstGeom>
          <a:solidFill>
            <a:srgbClr val="FCEED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47488" y="3529584"/>
            <a:ext cx="34015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 xml:space="preserve">読み取れること： </a:t>
            </a:r>
            <a:pPr indent="0" marL="0">
              <a:buNone/>
            </a:pPr>
            <a:r>
              <a:rPr lang="en-US" sz="1050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「実機デモ × 無料トライアル」がSNS新規獲得の最大レバレッジ。Northwindでも再現可能な型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10896" cy="118872"/>
          </a:xfrm>
          <a:prstGeom prst="rect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Northwindへの示唆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やるべきことは3つ ― 「無料」「デモ」「観測」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54880" y="48143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6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競合X動向 週次レポート | 2026-06-05（W23）   6 / 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651760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499616"/>
            <a:ext cx="713232" cy="713232"/>
          </a:xfrm>
          <a:prstGeom prst="ellipse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4996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40864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主要競合のAI無料開放に追随し、無料枠の訴求を同水準へ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96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理由：</a:t>
            </a:r>
            <a:pPr indent="0" marL="0">
              <a:buNone/>
            </a:pPr>
            <a:r>
              <a:rPr lang="en-US" sz="9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無料枠の有無がそのまま比較検討の差になる。エンプラ系に強いNorthwindと相性が良い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298448"/>
            <a:ext cx="2651760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74720" y="1499616"/>
            <a:ext cx="713232" cy="713232"/>
          </a:xfrm>
          <a:prstGeom prst="ellipse">
            <a:avLst/>
          </a:prstGeom>
          <a:solidFill>
            <a:srgbClr val="18161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74720" y="14996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340864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機能ローンチの60秒デモ動画を月次の定型枠に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1272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96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理由：</a:t>
            </a:r>
            <a:pPr indent="0" marL="0">
              <a:buNone/>
            </a:pPr>
            <a:r>
              <a:rPr lang="en-US" sz="9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TaskFlow12.4万impで実証済み。SNS新規獲得の最大レバレッジ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298448"/>
            <a:ext cx="2651760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09360" y="1499616"/>
            <a:ext cx="713232" cy="713232"/>
          </a:xfrm>
          <a:prstGeom prst="ellipse">
            <a:avLst/>
          </a:prstGeom>
          <a:solidFill>
            <a:srgbClr val="18161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09360" y="14996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観測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340864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Boardly API廃止期（6/10〜）を観測し受け皿訴求を検討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1272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969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理由：</a:t>
            </a:r>
            <a:pPr indent="0" marL="0">
              <a:buNone/>
            </a:pPr>
            <a:r>
              <a:rPr lang="en-US" sz="9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移行摩擦は一時的な機会窓（推測）。攻撃的な比較訴求は避ける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 xml:space="preserve">追随不要： </a:t>
            </a:r>
            <a:pPr indent="0" marL="0"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Planiq型の大量カタログ告知 ／ Wikraのオフライン連動 ／ 同一資本グループの共同施策（再現不可）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10896" cy="118872"/>
          </a:xfrm>
          <a:prstGeom prst="rect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868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アクションプラン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優先度A ― 今週着手する2施策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7764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481328"/>
            <a:ext cx="640080" cy="420624"/>
          </a:xfrm>
          <a:prstGeom prst="rect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" y="14813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A-1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26464" y="138988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AI無料枠の方針確認＋比較ページの設置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121408"/>
            <a:ext cx="3520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どの画面をどう変えるか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トップに「AI機能 無料で試す」枠を期間設置。機能ページに無料枠の上限バッジ＋トライアル導線を追加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期待効果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主要競合3社と同水準のAI無料訴求・比較検討での可視性を確保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397764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81614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10328" y="1481328"/>
            <a:ext cx="640080" cy="420624"/>
          </a:xfrm>
          <a:prstGeom prst="rect">
            <a:avLst/>
          </a:prstGeom>
          <a:solidFill>
            <a:srgbClr val="F083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910328" y="148132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A-2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78424" y="138988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9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機能ローンチ連動デモ動画の定型化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7760" y="2121408"/>
            <a:ext cx="3520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どの画面をどう変えるか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SNS運用カレンダーに月次のデモ動画枠を新設。特典は年間ライセンス抽選。トライアル延長をPMと調整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25E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期待効果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5C5A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SNS新規フォロワー獲得の最大化（TaskFlow12.4万imp実績の応用）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D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次回（W24）確認: Boardly 6/10 API廃止の実行状況 ／ Docuxの6月投稿再開 ／ Northwindの無料枠方針決定状況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48143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AD8A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競合X動向 週次レポート | 2026-06-05（W23）   7 / 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競合X動向 週次レポート 2026-06-05</dc:title>
  <dc:subject>PptxGenJS Presentation</dc:subject>
  <dc:creator>BookLive 競合調査</dc:creator>
  <cp:lastModifiedBy>BookLive 競合調査</cp:lastModifiedBy>
  <cp:revision>1</cp:revision>
  <dcterms:created xsi:type="dcterms:W3CDTF">2026-06-05T06:18:15Z</dcterms:created>
  <dcterms:modified xsi:type="dcterms:W3CDTF">2026-06-05T06:18:15Z</dcterms:modified>
</cp:coreProperties>
</file>